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914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286000"/>
            <a:ext cx="3200400" cy="3200400"/>
          </a:xfrm>
          <a:prstGeom prst="ellipse">
            <a:avLst/>
          </a:prstGeom>
          <a:solidFill>
            <a:srgbClr val="235789">
              <a:alpha val="25000"/>
            </a:srgbClr>
          </a:solidFill>
          <a:ln w="12700">
            <a:solidFill>
              <a:srgbClr val="235789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1645920"/>
            <a:ext cx="2011680" cy="201168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645920"/>
            <a:ext cx="128016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9144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to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320040" y="150876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C2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Virtualization &amp;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320040" y="214884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Containerization</a:t>
            </a:r>
            <a:endParaRPr lang="en-US" sz="4400" dirty="0"/>
          </a:p>
        </p:txBody>
      </p:sp>
      <p:sp>
        <p:nvSpPr>
          <p:cNvPr id="11" name="Shape 8"/>
          <p:cNvSpPr/>
          <p:nvPr/>
        </p:nvSpPr>
        <p:spPr>
          <a:xfrm>
            <a:off x="320040" y="2971800"/>
            <a:ext cx="128016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31546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Containers · Docker Hub · Installation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2004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31, 2025  ·  90 min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4864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78408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08813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978408"/>
            <a:ext cx="5943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Virtualization &amp; Containerization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680960" y="1115568"/>
            <a:ext cx="1005840" cy="347472"/>
          </a:xfrm>
          <a:prstGeom prst="rect">
            <a:avLst/>
          </a:prstGeom>
          <a:solidFill>
            <a:srgbClr val="00C2CB">
              <a:alpha val="20000"/>
            </a:srgbClr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0" y="11155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" y="1737360"/>
            <a:ext cx="8595360" cy="658368"/>
          </a:xfrm>
          <a:prstGeom prst="rect">
            <a:avLst/>
          </a:prstGeom>
          <a:solidFill>
            <a:srgbClr val="EBF4F8"/>
          </a:solidFill>
          <a:ln w="6350">
            <a:solidFill>
              <a:srgbClr val="D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1737360"/>
            <a:ext cx="54864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1755648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65376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63040" y="1755648"/>
            <a:ext cx="5943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Containerization?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7680960" y="1892808"/>
            <a:ext cx="1005840" cy="347472"/>
          </a:xfrm>
          <a:prstGeom prst="rect">
            <a:avLst/>
          </a:prstGeom>
          <a:solidFill>
            <a:srgbClr val="00C2CB">
              <a:alpha val="20000"/>
            </a:srgbClr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680960" y="18928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74320" y="2514600"/>
            <a:ext cx="8595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74320" y="2514600"/>
            <a:ext cx="54864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74320" y="2532888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642616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63040" y="2532888"/>
            <a:ext cx="5943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Architecture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7680960" y="2670048"/>
            <a:ext cx="1005840" cy="347472"/>
          </a:xfrm>
          <a:prstGeom prst="rect">
            <a:avLst/>
          </a:prstGeom>
          <a:solidFill>
            <a:srgbClr val="00C2CB">
              <a:alpha val="20000"/>
            </a:srgbClr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680960" y="26700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274320" y="3291840"/>
            <a:ext cx="8595360" cy="658368"/>
          </a:xfrm>
          <a:prstGeom prst="rect">
            <a:avLst/>
          </a:prstGeom>
          <a:solidFill>
            <a:srgbClr val="EBF4F8"/>
          </a:solidFill>
          <a:ln w="6350">
            <a:solidFill>
              <a:srgbClr val="D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274320" y="3291840"/>
            <a:ext cx="54864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274320" y="3310128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419856"/>
            <a:ext cx="384048" cy="38404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463040" y="3310128"/>
            <a:ext cx="5943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Docker Hub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7680960" y="3447288"/>
            <a:ext cx="1005840" cy="347472"/>
          </a:xfrm>
          <a:prstGeom prst="rect">
            <a:avLst/>
          </a:prstGeom>
          <a:solidFill>
            <a:srgbClr val="00C2CB">
              <a:alpha val="20000"/>
            </a:srgbClr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680960" y="344728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274320" y="4069080"/>
            <a:ext cx="8595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274320" y="4069080"/>
            <a:ext cx="54864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274320" y="4087368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197096"/>
            <a:ext cx="384048" cy="38404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463040" y="4087368"/>
            <a:ext cx="5943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Installation</a:t>
            </a:r>
            <a:endParaRPr lang="en-US" sz="1400" dirty="0"/>
          </a:p>
        </p:txBody>
      </p:sp>
      <p:sp>
        <p:nvSpPr>
          <p:cNvPr id="37" name="Shape 30"/>
          <p:cNvSpPr/>
          <p:nvPr/>
        </p:nvSpPr>
        <p:spPr>
          <a:xfrm>
            <a:off x="7680960" y="4224528"/>
            <a:ext cx="1005840" cy="347472"/>
          </a:xfrm>
          <a:prstGeom prst="rect">
            <a:avLst/>
          </a:prstGeom>
          <a:solidFill>
            <a:srgbClr val="00C2CB">
              <a:alpha val="20000"/>
            </a:srgbClr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7680960" y="42245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640080"/>
            <a:ext cx="219456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FA8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to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34290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Virtualization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914400" y="4160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multiple OS environments on a single physical machine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Virtualization?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0" y="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·  20 min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777240"/>
          </a:xfrm>
          <a:prstGeom prst="rect">
            <a:avLst/>
          </a:prstGeom>
          <a:solidFill>
            <a:srgbClr val="235789">
              <a:alpha val="12000"/>
            </a:srgbClr>
          </a:solidFill>
          <a:ln w="10160">
            <a:solidFill>
              <a:srgbClr val="2357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is the process of creating a software-based (virtual) version of computing resources — including hardware, storage, and networks — on top of a single physical machine.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828800"/>
            <a:ext cx="73152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01168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32688" y="19659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32688" y="2304288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layer that creates &amp; manages VMs. Type 1 (bare-metal) and Type 2 (hosted).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09160" y="1828800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828800"/>
            <a:ext cx="73152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201168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67528" y="19659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367528" y="2304288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isolated OS environment with its own CPU, RAM, storage, and network.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274320" y="3429000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74320" y="3429000"/>
            <a:ext cx="73152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61188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32688" y="35661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Sharing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932688" y="3904488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VMs share the same physical hardware, improving utilization.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709160" y="3429000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09160" y="3429000"/>
            <a:ext cx="73152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61188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67528" y="35661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367528" y="3904488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VM is fully isolated — a crash in one does not affect others.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VMs vs Containers — Key Differences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7764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3977640" cy="502920"/>
          </a:xfrm>
          <a:prstGeom prst="rect">
            <a:avLst/>
          </a:prstGeom>
          <a:solidFill>
            <a:srgbClr val="235789"/>
          </a:solidFill>
          <a:ln w="12700">
            <a:solidFill>
              <a:srgbClr val="2357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3977640" cy="594360"/>
          </a:xfrm>
          <a:prstGeom prst="rect">
            <a:avLst/>
          </a:prstGeom>
          <a:solidFill>
            <a:srgbClr val="F7FBFD"/>
          </a:solidFill>
          <a:ln w="3810">
            <a:solidFill>
              <a:srgbClr val="E8F0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4475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full 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144475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VM has its own kernel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66544"/>
            <a:ext cx="397764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E8F0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6654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weight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206654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 in size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688336"/>
            <a:ext cx="3977640" cy="594360"/>
          </a:xfrm>
          <a:prstGeom prst="rect">
            <a:avLst/>
          </a:prstGeom>
          <a:solidFill>
            <a:srgbClr val="F7FBFD"/>
          </a:solidFill>
          <a:ln w="3810">
            <a:solidFill>
              <a:srgbClr val="E8F0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8833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startup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268833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to boot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310128"/>
            <a:ext cx="397764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E8F0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1012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isolation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86000" y="331012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Hardware-level boundaries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931920"/>
            <a:ext cx="3977640" cy="594360"/>
          </a:xfrm>
          <a:prstGeom prst="rect">
            <a:avLst/>
          </a:prstGeom>
          <a:solidFill>
            <a:srgbClr val="F7FBFD"/>
          </a:solidFill>
          <a:ln w="3810">
            <a:solidFill>
              <a:srgbClr val="E8F0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319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resource use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0" y="39319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RAM &amp; CPU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822960"/>
            <a:ext cx="397764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92040" y="822960"/>
            <a:ext cx="397764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82296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92040" y="1444752"/>
            <a:ext cx="3977640" cy="594360"/>
          </a:xfrm>
          <a:prstGeom prst="rect">
            <a:avLst/>
          </a:prstGeom>
          <a:solidFill>
            <a:srgbClr val="F0FAF9"/>
          </a:solidFill>
          <a:ln w="3810">
            <a:solidFill>
              <a:srgbClr val="E8F0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144475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host OS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144475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kernel needed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2066544"/>
            <a:ext cx="397764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E8F0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206654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0" y="206654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MBs in size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92040" y="2688336"/>
            <a:ext cx="3977640" cy="594360"/>
          </a:xfrm>
          <a:prstGeom prst="rect">
            <a:avLst/>
          </a:prstGeom>
          <a:solidFill>
            <a:srgbClr val="F0FAF9"/>
          </a:solidFill>
          <a:ln w="3810">
            <a:solidFill>
              <a:srgbClr val="E8F0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268833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startup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0" y="268833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to start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92040" y="3310128"/>
            <a:ext cx="397764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E8F0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331012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isolation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0" y="331012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boundaries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92040" y="3931920"/>
            <a:ext cx="3977640" cy="594360"/>
          </a:xfrm>
          <a:prstGeom prst="rect">
            <a:avLst/>
          </a:prstGeom>
          <a:solidFill>
            <a:srgbClr val="F0FAF9"/>
          </a:solidFill>
          <a:ln w="3810">
            <a:solidFill>
              <a:srgbClr val="E8F0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39319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resources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58000" y="39319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OS kernel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206240" y="2194560"/>
            <a:ext cx="731520" cy="731520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0624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64008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3063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FA8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3566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Containerization?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your app and all its dependencies into one portable unit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Containerization?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685800"/>
          </a:xfrm>
          <a:prstGeom prst="rect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64008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 packages an application and its dependencies (code, runtime, libraries, configs) into a single, portable container that runs consistently across any environment.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892808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1828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38912" y="23774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identically on dev, test, and production — any OS, any cloud.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169164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892808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67912" y="1828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64992" y="23774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don't interfere with each other; secure process-level boundaries.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26480" y="169164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892808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93992" y="1828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91072" y="23774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the host OS kernel — uses far less CPU and RAM than VMs.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74320" y="324612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447288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41832" y="33832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38912" y="39319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up thousands of containers instantly. Perfect for microservices.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200400" y="324612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3447288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867912" y="33832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3364992" y="39319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"Works on my machine" problem solved. Same container everywhere.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6126480" y="324612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3447288"/>
            <a:ext cx="411480" cy="4114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793992" y="33832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6291072" y="39319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images are versioned and immutable — roll back instantly.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Containers Work — Core Concepts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475488"/>
          </a:xfrm>
          <a:prstGeom prst="rect">
            <a:avLst/>
          </a:prstGeom>
          <a:solidFill>
            <a:srgbClr val="235789"/>
          </a:solidFill>
          <a:ln w="12700">
            <a:solidFill>
              <a:srgbClr val="23578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Namespaces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27432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38988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— Process isolation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9202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— Network isolation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45059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MNT — Filesystem isolation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2980944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 — Hostname isolation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351129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— Inter-process isolation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822960"/>
            <a:ext cx="274320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8229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cgroups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200400" y="1298448"/>
            <a:ext cx="27432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38988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CPU usage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19202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memory usage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0128" y="245059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disk I/O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10128" y="2980944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network bandwidth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10128" y="351129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resource usage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822960"/>
            <a:ext cx="2743200" cy="475488"/>
          </a:xfrm>
          <a:prstGeom prst="rect">
            <a:avLst/>
          </a:prstGeom>
          <a:solidFill>
            <a:srgbClr val="5C5FA0"/>
          </a:solidFill>
          <a:ln w="12700">
            <a:solidFill>
              <a:srgbClr val="5C5F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8229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Union FS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26480" y="1298448"/>
            <a:ext cx="27432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138988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filesystem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36208" y="19202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image layer (read-only)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36208" y="245059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layer (writable)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36208" y="2980944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storage sharing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36208" y="351129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image distribution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343400"/>
            <a:ext cx="8595360" cy="548640"/>
          </a:xfrm>
          <a:prstGeom prst="rect">
            <a:avLst/>
          </a:prstGeom>
          <a:solidFill>
            <a:srgbClr val="F4C430">
              <a:alpha val="15000"/>
            </a:srgbClr>
          </a:solidFill>
          <a:ln w="6350">
            <a:solidFill>
              <a:srgbClr val="F4C4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Containers use Linux kernel features — namespaces for isolation, cgroups for resource limits, and Union FS for layered images.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502920"/>
            <a:ext cx="2194560" cy="1783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2743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457200" y="33832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C2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· Daemon · Images · Containers · Registries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Architecture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2286000" cy="4069080"/>
          </a:xfrm>
          <a:prstGeom prst="rect">
            <a:avLst/>
          </a:prstGeom>
          <a:solidFill>
            <a:srgbClr val="235789">
              <a:alpha val="12000"/>
            </a:srgbClr>
          </a:solidFill>
          <a:ln w="12700">
            <a:solidFill>
              <a:srgbClr val="23578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822960"/>
            <a:ext cx="2286000" cy="438912"/>
          </a:xfrm>
          <a:prstGeom prst="rect">
            <a:avLst/>
          </a:prstGeom>
          <a:solidFill>
            <a:srgbClr val="235789"/>
          </a:solidFill>
          <a:ln w="12700">
            <a:solidFill>
              <a:srgbClr val="2357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8229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CLIENT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17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202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423160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423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926080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926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push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429000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4290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931920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931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stop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468880" y="2560320"/>
            <a:ext cx="5486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95728" y="233172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017520" y="822960"/>
            <a:ext cx="3657600" cy="4069080"/>
          </a:xfrm>
          <a:prstGeom prst="rect">
            <a:avLst/>
          </a:prstGeom>
          <a:solidFill>
            <a:srgbClr val="028090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17520" y="822960"/>
            <a:ext cx="365760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8229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HOST (DAEMON)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54680" y="1417320"/>
            <a:ext cx="1554480" cy="347472"/>
          </a:xfrm>
          <a:prstGeom prst="rect">
            <a:avLst/>
          </a:prstGeom>
          <a:solidFill>
            <a:srgbClr val="235789"/>
          </a:solidFill>
          <a:ln w="12700">
            <a:solidFill>
              <a:srgbClr val="23578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4680" y="14173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54680" y="1847088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54680" y="18470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nginx:latest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54680" y="2267712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54680" y="22677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ubuntu:22.04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54680" y="2688336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54680" y="26883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node:18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1417320"/>
            <a:ext cx="1691640" cy="347472"/>
          </a:xfrm>
          <a:prstGeom prst="rect">
            <a:avLst/>
          </a:prstGeom>
          <a:solidFill>
            <a:srgbClr val="1D7A5A"/>
          </a:solidFill>
          <a:ln w="12700">
            <a:solidFill>
              <a:srgbClr val="1D7A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14173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1847088"/>
            <a:ext cx="1691640" cy="347472"/>
          </a:xfrm>
          <a:prstGeom prst="rect">
            <a:avLst/>
          </a:prstGeom>
          <a:solidFill>
            <a:srgbClr val="F0FBF6"/>
          </a:solidFill>
          <a:ln w="6350">
            <a:solidFill>
              <a:srgbClr val="A8DF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184708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7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web-app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2267712"/>
            <a:ext cx="1691640" cy="347472"/>
          </a:xfrm>
          <a:prstGeom prst="rect">
            <a:avLst/>
          </a:prstGeom>
          <a:solidFill>
            <a:srgbClr val="F0FBF6"/>
          </a:solidFill>
          <a:ln w="6350">
            <a:solidFill>
              <a:srgbClr val="A8DF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226771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7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db-service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2688336"/>
            <a:ext cx="1691640" cy="347472"/>
          </a:xfrm>
          <a:prstGeom prst="rect">
            <a:avLst/>
          </a:prstGeom>
          <a:solidFill>
            <a:srgbClr val="F0FBF6"/>
          </a:solidFill>
          <a:ln w="6350">
            <a:solidFill>
              <a:srgbClr val="A8DF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268833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7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api-gateway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154680" y="3200400"/>
            <a:ext cx="1554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54680" y="32461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154680" y="361188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46320" y="3200400"/>
            <a:ext cx="16916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324612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46320" y="361188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Bridge, host,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overlay, none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675120" y="2560320"/>
            <a:ext cx="4572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32320" y="822960"/>
            <a:ext cx="1828800" cy="4069080"/>
          </a:xfrm>
          <a:prstGeom prst="rect">
            <a:avLst/>
          </a:prstGeom>
          <a:solidFill>
            <a:srgbClr val="5C5FA0">
              <a:alpha val="12000"/>
            </a:srgbClr>
          </a:solidFill>
          <a:ln w="12700">
            <a:solidFill>
              <a:srgbClr val="5C5FA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0" y="822960"/>
            <a:ext cx="1828800" cy="438912"/>
          </a:xfrm>
          <a:prstGeom prst="rect">
            <a:avLst/>
          </a:prstGeom>
          <a:solidFill>
            <a:srgbClr val="5C5FA0"/>
          </a:solidFill>
          <a:ln w="12700">
            <a:solidFill>
              <a:srgbClr val="5C5FA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32320" y="8229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269480" y="1417320"/>
            <a:ext cx="1554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69480" y="141732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269480" y="1965960"/>
            <a:ext cx="1554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69480" y="196596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ECR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269480" y="2514600"/>
            <a:ext cx="1554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69480" y="25146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GCR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269480" y="3063240"/>
            <a:ext cx="1554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69480" y="306324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ACR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269480" y="3611880"/>
            <a:ext cx="1554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69480" y="361188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Key Components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889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2788920" cy="502920"/>
          </a:xfrm>
          <a:prstGeom prst="rect">
            <a:avLst/>
          </a:prstGeom>
          <a:solidFill>
            <a:srgbClr val="235789"/>
          </a:solidFill>
          <a:ln w="12700">
            <a:solidFill>
              <a:srgbClr val="23578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914400"/>
            <a:ext cx="347472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528" y="822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Dockerfile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" y="144475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 file with instructions to build a Docker image. Every instruction creates a new layer.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8328" y="2487168"/>
            <a:ext cx="2578608" cy="2286000"/>
          </a:xfrm>
          <a:prstGeom prst="rect">
            <a:avLst/>
          </a:prstGeom>
          <a:solidFill>
            <a:srgbClr val="0D1B2A"/>
          </a:solidFill>
          <a:ln w="6350">
            <a:solidFill>
              <a:srgbClr val="23578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2542032"/>
            <a:ext cx="2423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ubuntu:22.04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apt-get update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app/ /app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["python", "app.py"]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0" y="822960"/>
            <a:ext cx="27889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822960"/>
            <a:ext cx="27889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914400"/>
            <a:ext cx="347472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67328" y="822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Image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337560" y="144475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template with all files, dependencies, and instructions needed to create a container.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310128" y="2487168"/>
            <a:ext cx="2578608" cy="2286000"/>
          </a:xfrm>
          <a:prstGeom prst="rect">
            <a:avLst/>
          </a:prstGeom>
          <a:solidFill>
            <a:srgbClr val="0D1B2A"/>
          </a:solidFill>
          <a:ln w="6350">
            <a:solidFill>
              <a:srgbClr val="23578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383280" y="2542032"/>
            <a:ext cx="2423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myapp:1.0 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 inspect myapp:1.0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72200" y="822960"/>
            <a:ext cx="27889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72200" y="822960"/>
            <a:ext cx="2788920" cy="502920"/>
          </a:xfrm>
          <a:prstGeom prst="rect">
            <a:avLst/>
          </a:prstGeom>
          <a:solidFill>
            <a:srgbClr val="1D7A5A"/>
          </a:solidFill>
          <a:ln w="12700">
            <a:solidFill>
              <a:srgbClr val="1D7A5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914400"/>
            <a:ext cx="347472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39128" y="822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Container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309360" y="144475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instance of an image. Lightweight, isolated, ephemeral. Has its own filesystem and network.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281928" y="2487168"/>
            <a:ext cx="2578608" cy="2286000"/>
          </a:xfrm>
          <a:prstGeom prst="rect">
            <a:avLst/>
          </a:prstGeom>
          <a:solidFill>
            <a:srgbClr val="0D1B2A"/>
          </a:solidFill>
          <a:ln w="6350">
            <a:solidFill>
              <a:srgbClr val="235789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355080" y="2542032"/>
            <a:ext cx="2423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-p 80:8080 myapp:1.0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-it &lt;id&gt; bash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594360"/>
            <a:ext cx="210312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FA8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 of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33832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Hub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914400" y="4160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largest library of container images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Hub — The Container Registry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0233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402336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2296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Docker Hub?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3749040" cy="475488"/>
          </a:xfrm>
          <a:prstGeom prst="rect">
            <a:avLst/>
          </a:prstGeom>
          <a:solidFill>
            <a:srgbClr val="F7FBFD"/>
          </a:solidFill>
          <a:ln w="3810">
            <a:solidFill>
              <a:srgbClr val="EAF0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1732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registry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31720" y="141732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&amp; distribute images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37490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AF0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6596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repositories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31720" y="196596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open source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3749040" cy="475488"/>
          </a:xfrm>
          <a:prstGeom prst="rect">
            <a:avLst/>
          </a:prstGeom>
          <a:solidFill>
            <a:srgbClr val="F7FBFD"/>
          </a:solidFill>
          <a:ln w="3810">
            <a:solidFill>
              <a:srgbClr val="EAF0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1460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repositories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251460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team images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37490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AF0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6324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images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31720" y="306324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Docker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611880"/>
            <a:ext cx="3749040" cy="475488"/>
          </a:xfrm>
          <a:prstGeom prst="rect">
            <a:avLst/>
          </a:prstGeom>
          <a:solidFill>
            <a:srgbClr val="F7FBFD"/>
          </a:solidFill>
          <a:ln w="3810">
            <a:solidFill>
              <a:srgbClr val="EAF0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61188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builds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31720" y="361188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→ image pipeline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160520"/>
            <a:ext cx="37490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AF0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16052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31720" y="416052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80560" y="822960"/>
            <a:ext cx="44348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80560" y="822960"/>
            <a:ext cx="4434840" cy="438912"/>
          </a:xfrm>
          <a:prstGeom prst="rect">
            <a:avLst/>
          </a:prstGeom>
          <a:solidFill>
            <a:srgbClr val="235789"/>
          </a:solidFill>
          <a:ln w="12700">
            <a:solidFill>
              <a:srgbClr val="23578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82296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Popular Official Images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0" y="1371600"/>
            <a:ext cx="1371600" cy="402336"/>
          </a:xfrm>
          <a:prstGeom prst="rect">
            <a:avLst/>
          </a:prstGeom>
          <a:solidFill>
            <a:srgbClr val="EBF4F8"/>
          </a:solidFill>
          <a:ln w="6350">
            <a:solidFill>
              <a:srgbClr val="C5DD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1371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0" y="1572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35040" y="1371600"/>
            <a:ext cx="1371600" cy="402336"/>
          </a:xfrm>
          <a:prstGeom prst="rect">
            <a:avLst/>
          </a:prstGeom>
          <a:solidFill>
            <a:srgbClr val="EBF4F8"/>
          </a:solidFill>
          <a:ln w="6350">
            <a:solidFill>
              <a:srgbClr val="C5DD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1371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ubuntu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35040" y="1572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OS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98080" y="1371600"/>
            <a:ext cx="1371600" cy="402336"/>
          </a:xfrm>
          <a:prstGeom prst="rect">
            <a:avLst/>
          </a:prstGeom>
          <a:solidFill>
            <a:srgbClr val="EBF4F8"/>
          </a:solidFill>
          <a:ln w="6350">
            <a:solidFill>
              <a:srgbClr val="C5DD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0" y="1371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98080" y="1572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runtime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0" y="1874520"/>
            <a:ext cx="1371600" cy="402336"/>
          </a:xfrm>
          <a:prstGeom prst="rect">
            <a:avLst/>
          </a:prstGeom>
          <a:solidFill>
            <a:srgbClr val="EBF4F8"/>
          </a:solidFill>
          <a:ln w="6350">
            <a:solidFill>
              <a:srgbClr val="C5DD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0" y="1874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0" y="2075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035040" y="1874520"/>
            <a:ext cx="1371600" cy="402336"/>
          </a:xfrm>
          <a:prstGeom prst="rect">
            <a:avLst/>
          </a:prstGeom>
          <a:solidFill>
            <a:srgbClr val="EBF4F8"/>
          </a:solidFill>
          <a:ln w="6350">
            <a:solidFill>
              <a:srgbClr val="C5DD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0" y="1874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35040" y="2075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runtime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98080" y="1874520"/>
            <a:ext cx="1371600" cy="402336"/>
          </a:xfrm>
          <a:prstGeom prst="rect">
            <a:avLst/>
          </a:prstGeom>
          <a:solidFill>
            <a:srgbClr val="EBF4F8"/>
          </a:solidFill>
          <a:ln w="6350">
            <a:solidFill>
              <a:srgbClr val="C5DD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0" y="1874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498080" y="2075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/ MQ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480560" y="2834640"/>
            <a:ext cx="4434840" cy="2103120"/>
          </a:xfrm>
          <a:prstGeom prst="rect">
            <a:avLst/>
          </a:prstGeom>
          <a:solidFill>
            <a:srgbClr val="0D1B2A"/>
          </a:solidFill>
          <a:ln w="6350">
            <a:solidFill>
              <a:srgbClr val="23578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480560" y="2834640"/>
            <a:ext cx="4434840" cy="384048"/>
          </a:xfrm>
          <a:prstGeom prst="rect">
            <a:avLst/>
          </a:prstGeom>
          <a:solidFill>
            <a:srgbClr val="235789"/>
          </a:solidFill>
          <a:ln w="12700">
            <a:solidFill>
              <a:srgbClr val="23578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80560" y="283464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Hub Commands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617720" y="33192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search nginx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452360" y="33192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Search images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617720" y="372160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nginx:latest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452360" y="37216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Download image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617720" y="412394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push myuser/myapp:1.0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452360" y="412394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Upload to Hub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617720" y="45262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login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452360" y="45262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Authenticate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502920"/>
            <a:ext cx="1828800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423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26974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33101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Installation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914400" y="4069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 ·  macOS  ·  Linux (Ubuntu)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Installation Guide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889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2788920" cy="502920"/>
          </a:xfrm>
          <a:prstGeom prst="rect">
            <a:avLst/>
          </a:prstGeom>
          <a:solidFill>
            <a:srgbClr val="0078D6"/>
          </a:solidFill>
          <a:ln w="12700">
            <a:solidFill>
              <a:srgbClr val="0078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22960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0392" y="822960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Windows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8328" y="1417320"/>
            <a:ext cx="2578608" cy="320040"/>
          </a:xfrm>
          <a:prstGeom prst="rect">
            <a:avLst/>
          </a:prstGeom>
          <a:solidFill>
            <a:srgbClr val="0078D6">
              <a:alpha val="12000"/>
            </a:srgbClr>
          </a:solidFill>
          <a:ln w="6350">
            <a:solidFill>
              <a:srgbClr val="0078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41732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Requires: Windows 10/11 Pro, WSL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" y="1828800"/>
            <a:ext cx="2578608" cy="2971800"/>
          </a:xfrm>
          <a:prstGeom prst="rect">
            <a:avLst/>
          </a:prstGeom>
          <a:solidFill>
            <a:srgbClr val="0D1B2A"/>
          </a:solidFill>
          <a:ln w="6350">
            <a:solidFill>
              <a:srgbClr val="2357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920240"/>
            <a:ext cx="256032" cy="256032"/>
          </a:xfrm>
          <a:prstGeom prst="ellipse">
            <a:avLst/>
          </a:prstGeom>
          <a:solidFill>
            <a:srgbClr val="0078D6"/>
          </a:solidFill>
          <a:ln w="12700">
            <a:solidFill>
              <a:srgbClr val="0078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189280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 Docker Desktop from docker.com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2450592"/>
            <a:ext cx="256032" cy="256032"/>
          </a:xfrm>
          <a:prstGeom prst="ellipse">
            <a:avLst/>
          </a:prstGeom>
          <a:solidFill>
            <a:srgbClr val="0078D6"/>
          </a:solidFill>
          <a:ln w="12700">
            <a:solidFill>
              <a:srgbClr val="0078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242316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installer → Enable WSL 2 backend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2980944"/>
            <a:ext cx="256032" cy="256032"/>
          </a:xfrm>
          <a:prstGeom prst="ellipse">
            <a:avLst/>
          </a:prstGeom>
          <a:solidFill>
            <a:srgbClr val="0078D6"/>
          </a:solidFill>
          <a:ln w="12700">
            <a:solidFill>
              <a:srgbClr val="0078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80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295351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Restart computer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3511296"/>
            <a:ext cx="256032" cy="256032"/>
          </a:xfrm>
          <a:prstGeom prst="ellipse">
            <a:avLst/>
          </a:prstGeom>
          <a:solidFill>
            <a:srgbClr val="0078D6"/>
          </a:solidFill>
          <a:ln w="12700">
            <a:solidFill>
              <a:srgbClr val="0078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511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3483864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 Docker Desktop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4041648"/>
            <a:ext cx="256032" cy="256032"/>
          </a:xfrm>
          <a:prstGeom prst="ellipse">
            <a:avLst/>
          </a:prstGeom>
          <a:solidFill>
            <a:srgbClr val="0078D6"/>
          </a:solidFill>
          <a:ln w="12700">
            <a:solidFill>
              <a:srgbClr val="0078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041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4014216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--version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0" y="822960"/>
            <a:ext cx="27889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822960"/>
            <a:ext cx="2788920" cy="50292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822960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22192" y="822960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macOS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310128" y="1417320"/>
            <a:ext cx="2578608" cy="320040"/>
          </a:xfrm>
          <a:prstGeom prst="rect">
            <a:avLst/>
          </a:prstGeom>
          <a:solidFill>
            <a:srgbClr val="555555">
              <a:alpha val="12000"/>
            </a:srgbClr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141732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Requires: macOS 12+ (Intel or Apple Silicon)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10128" y="1828800"/>
            <a:ext cx="2578608" cy="2971800"/>
          </a:xfrm>
          <a:prstGeom prst="rect">
            <a:avLst/>
          </a:prstGeom>
          <a:solidFill>
            <a:srgbClr val="0D1B2A"/>
          </a:solidFill>
          <a:ln w="6350">
            <a:solidFill>
              <a:srgbClr val="23578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3280" y="1920240"/>
            <a:ext cx="256032" cy="256032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703320" y="189280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 Docker Desktop for Mac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383280" y="2450592"/>
            <a:ext cx="256032" cy="256032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0" y="2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703320" y="242316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Drag Docker.app to Applications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383280" y="2980944"/>
            <a:ext cx="256032" cy="256032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83280" y="2980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703320" y="295351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 Docker from Applications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383280" y="3511296"/>
            <a:ext cx="256032" cy="256032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280" y="3511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703320" y="3483864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necessary permissions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383280" y="4041648"/>
            <a:ext cx="256032" cy="256032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83280" y="4041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703320" y="4014216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--version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72200" y="822960"/>
            <a:ext cx="27889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172200" y="822960"/>
            <a:ext cx="27889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72200" y="822960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NIX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793992" y="822960"/>
            <a:ext cx="216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Linux (Ubuntu)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6281928" y="1417320"/>
            <a:ext cx="2578608" cy="320040"/>
          </a:xfrm>
          <a:prstGeom prst="rect">
            <a:avLst/>
          </a:prstGeom>
          <a:solidFill>
            <a:srgbClr val="028090">
              <a:alpha val="12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81928" y="141732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Requires: Ubuntu 20.04 / 22.04 LTS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81928" y="1828800"/>
            <a:ext cx="2578608" cy="2971800"/>
          </a:xfrm>
          <a:prstGeom prst="rect">
            <a:avLst/>
          </a:prstGeom>
          <a:solidFill>
            <a:srgbClr val="0D1B2A"/>
          </a:solidFill>
          <a:ln w="6350">
            <a:solidFill>
              <a:srgbClr val="23578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55080" y="1920240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55080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675120" y="189280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apt-get update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355080" y="2450592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55080" y="2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675120" y="242316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apt-get install ca-certificates curl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355080" y="2980944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55080" y="2980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675120" y="295351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https://get.docker.com | bash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355080" y="3511296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55080" y="3511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675120" y="3483864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usermod -aG docker $USER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355080" y="4041648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55080" y="4041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675120" y="4014216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--version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 &amp; Run Your First Container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1605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416052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2296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 Commands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3886200" cy="566928"/>
          </a:xfrm>
          <a:prstGeom prst="rect">
            <a:avLst/>
          </a:prstGeom>
          <a:solidFill>
            <a:srgbClr val="0D1B2A"/>
          </a:solidFill>
          <a:ln w="6350">
            <a:solidFill>
              <a:srgbClr val="23578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356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--version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099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Docker CLI version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75688"/>
            <a:ext cx="3886200" cy="566928"/>
          </a:xfrm>
          <a:prstGeom prst="rect">
            <a:avLst/>
          </a:prstGeom>
          <a:solidFill>
            <a:srgbClr val="0D1B2A"/>
          </a:solidFill>
          <a:ln w="6350">
            <a:solidFill>
              <a:srgbClr val="2357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9397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info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36829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system-wide info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734056"/>
            <a:ext cx="3886200" cy="566928"/>
          </a:xfrm>
          <a:prstGeom prst="rect">
            <a:avLst/>
          </a:prstGeom>
          <a:solidFill>
            <a:srgbClr val="0D1B2A"/>
          </a:solidFill>
          <a:ln w="6350">
            <a:solidFill>
              <a:srgbClr val="23578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523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hello-world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02666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 container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392424"/>
            <a:ext cx="3886200" cy="566928"/>
          </a:xfrm>
          <a:prstGeom prst="rect">
            <a:avLst/>
          </a:prstGeom>
          <a:solidFill>
            <a:srgbClr val="0D1B2A"/>
          </a:solidFill>
          <a:ln w="6350">
            <a:solidFill>
              <a:srgbClr val="2357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107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685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running containers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050792"/>
            <a:ext cx="3886200" cy="566928"/>
          </a:xfrm>
          <a:prstGeom prst="rect">
            <a:avLst/>
          </a:prstGeom>
          <a:solidFill>
            <a:srgbClr val="0D1B2A"/>
          </a:solidFill>
          <a:ln w="6350">
            <a:solidFill>
              <a:srgbClr val="23578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690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images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343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downloaded images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822960"/>
            <a:ext cx="4251960" cy="2057400"/>
          </a:xfrm>
          <a:prstGeom prst="rect">
            <a:avLst/>
          </a:prstGeom>
          <a:solidFill>
            <a:srgbClr val="0D1B2A"/>
          </a:solidFill>
          <a:ln w="6350">
            <a:solidFill>
              <a:srgbClr val="23578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822960"/>
            <a:ext cx="4251960" cy="411480"/>
          </a:xfrm>
          <a:prstGeom prst="rect">
            <a:avLst/>
          </a:prstGeom>
          <a:solidFill>
            <a:srgbClr val="235789"/>
          </a:solidFill>
          <a:ln w="12700">
            <a:solidFill>
              <a:srgbClr val="23578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822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hello-world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1298448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from Docker!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message shows that your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installation appears to be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working correctly.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017520"/>
            <a:ext cx="42519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017520"/>
            <a:ext cx="4251960" cy="384048"/>
          </a:xfrm>
          <a:prstGeom prst="rect">
            <a:avLst/>
          </a:prstGeom>
          <a:solidFill>
            <a:srgbClr val="1D7A5A"/>
          </a:solidFill>
          <a:ln w="12700">
            <a:solidFill>
              <a:srgbClr val="1D7A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01752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behind the scenes?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73168" y="350215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3474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client contacts the daemon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73168" y="3849624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47488" y="38221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 pulls hello-world from Docker Hub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73168" y="419709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47488" y="416966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 creates container from image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73168" y="4544568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47488" y="451713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runs and prints message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73168" y="4892040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47488" y="48646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exits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learned today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743200" cy="1600200"/>
          </a:xfrm>
          <a:prstGeom prst="rect">
            <a:avLst/>
          </a:prstGeom>
          <a:solidFill>
            <a:srgbClr val="1B2A3B"/>
          </a:solidFill>
          <a:ln w="12700">
            <a:solidFill>
              <a:srgbClr val="23578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2743200" cy="73152"/>
          </a:xfrm>
          <a:prstGeom prst="rect">
            <a:avLst/>
          </a:prstGeom>
          <a:solidFill>
            <a:srgbClr val="235789"/>
          </a:solidFill>
          <a:ln w="12700">
            <a:solidFill>
              <a:srgbClr val="23578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37160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3258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Virtualization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38912" y="184708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Hypervisors enable multiple OS instances on one physical machine.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54680" y="1188720"/>
            <a:ext cx="2743200" cy="1600200"/>
          </a:xfrm>
          <a:prstGeom prst="rect">
            <a:avLst/>
          </a:prstGeom>
          <a:solidFill>
            <a:srgbClr val="1B2A3B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54680" y="1188720"/>
            <a:ext cx="27432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137160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94760" y="13258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Containerization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19272" y="184708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apps with all dependencies for consistent, portable deployment.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0" y="1188720"/>
            <a:ext cx="2743200" cy="16002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C2C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35040" y="1188720"/>
            <a:ext cx="27432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37160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75120" y="13258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Architecture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199632" y="184708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Client, Daemon, Images, Containers, and Registries work together.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1691640" y="2971800"/>
            <a:ext cx="2743200" cy="1600200"/>
          </a:xfrm>
          <a:prstGeom prst="rect">
            <a:avLst/>
          </a:prstGeom>
          <a:solidFill>
            <a:srgbClr val="1B2A3B"/>
          </a:solidFill>
          <a:ln w="12700">
            <a:solidFill>
              <a:srgbClr val="5C5F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691640" y="2971800"/>
            <a:ext cx="2743200" cy="73152"/>
          </a:xfrm>
          <a:prstGeom prst="rect">
            <a:avLst/>
          </a:prstGeom>
          <a:solidFill>
            <a:srgbClr val="5C5FA0"/>
          </a:solidFill>
          <a:ln w="12700">
            <a:solidFill>
              <a:srgbClr val="5C5FA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6232" y="3154680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331720" y="31089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Hub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856232" y="363016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World's largest registry — pull, push, and share container images.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572000" y="2971800"/>
            <a:ext cx="2743200" cy="1600200"/>
          </a:xfrm>
          <a:prstGeom prst="rect">
            <a:avLst/>
          </a:prstGeom>
          <a:solidFill>
            <a:srgbClr val="1B2A3B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72000" y="2971800"/>
            <a:ext cx="274320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3154680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212080" y="31089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Installation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4736592" y="363016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 for Win/Mac, apt/script for Linux. Verify with hello-world.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C2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Q&amp;A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0" y="2423160"/>
            <a:ext cx="4572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Resources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20040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docs.docker.com — Official documentation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356616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hub.docker.com — Docker Hub registry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393192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play-with-docker.com — Free online playground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Introduction to Virtualization &amp; Containerization · March 31,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Virtualization and Containerization</dc:title>
  <dc:subject>PptxGenJS Presentation</dc:subject>
  <dc:creator>PptxGenJS</dc:creator>
  <cp:lastModifiedBy>PptxGenJS</cp:lastModifiedBy>
  <cp:revision>1</cp:revision>
  <dcterms:created xsi:type="dcterms:W3CDTF">2026-03-31T03:35:12Z</dcterms:created>
  <dcterms:modified xsi:type="dcterms:W3CDTF">2026-03-31T03:35:12Z</dcterms:modified>
</cp:coreProperties>
</file>